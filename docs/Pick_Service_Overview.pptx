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>
                <a:solidFill>
                  <a:srgbClr val="FFFFFF"/>
                </a:solidFill>
              </a:rPr>
              <a:t>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23444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</a:rPr>
              <a:t>Pick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E0AA"/>
                </a:solidFill>
              </a:rPr>
              <a:t>ピック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会話からフレーズをピックして学ぼう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E0AA"/>
                </a:solidFill>
              </a:rPr>
              <a:t>Pick the words from your real conversations.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E0AA"/>
                </a:solidFill>
              </a:rPr>
              <a:t>サービスコンセプト・システム仕様・顧客価値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C080"/>
                </a:solidFill>
              </a:rPr>
              <a:t>2026.03  個人開発 / Railway デプロイ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Pick が解く課題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AA"/>
                </a:solidFill>
              </a:rPr>
              <a:t>なぜ既存の英語学習アプリでは身につかないのか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5394960" cy="2651760"/>
          </a:xfrm>
          <a:prstGeom prst="rect">
            <a:avLst/>
          </a:prstGeom>
          <a:solidFill>
            <a:srgbClr val="FFEDED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91B1B"/>
                </a:solidFill>
              </a:rPr>
              <a:t>😔  現状の課題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5394960" cy="2057400"/>
          </a:xfrm>
          <a:prstGeom prst="rect">
            <a:avLst/>
          </a:prstGeom>
          <a:solidFill>
            <a:srgbClr val="FFEDED"/>
          </a:solidFill>
          <a:ln w="9525">
            <a:solidFill>
              <a:srgbClr val="E9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2057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7F1D1D"/>
                </a:solidFill>
              </a:rPr>
              <a:t>✕ 教材フレーズは覚えても実務で使えない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7F1D1D"/>
                </a:solidFill>
              </a:rPr>
              <a:t>✕ 自分の仕事・趣味文脈と乖離している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7F1D1D"/>
                </a:solidFill>
              </a:rPr>
              <a:t>✕ アプリを続けても「会議で使えた」実感がない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7F1D1D"/>
                </a:solidFill>
              </a:rPr>
              <a:t>✕ インプット（読む/聴く）と学習が分断されている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417320"/>
            <a:ext cx="5879592" cy="2651760"/>
          </a:xfrm>
          <a:prstGeom prst="rect">
            <a:avLst/>
          </a:prstGeom>
          <a:solidFill>
            <a:srgbClr val="ECFDF5"/>
          </a:solidFill>
          <a:ln w="952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543A"/>
                </a:solidFill>
              </a:rPr>
              <a:t>✅  Pick のアプローチ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920240"/>
            <a:ext cx="5879592" cy="2057400"/>
          </a:xfrm>
          <a:prstGeom prst="rect">
            <a:avLst/>
          </a:prstGeom>
          <a:solidFill>
            <a:srgbClr val="ECFDF5"/>
          </a:solidFill>
          <a:ln w="9525">
            <a:solidFill>
              <a:srgbClr val="E9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1" y="2057400"/>
            <a:ext cx="56052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06543A"/>
                </a:solidFill>
              </a:rPr>
              <a:t>✓ 自分の議事録・字幕・技術記事が教材になる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6543A"/>
                </a:solidFill>
              </a:rPr>
              <a:t>✓ AI が「あなたの目的」に合うフレーズを自動抽出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6543A"/>
                </a:solidFill>
              </a:rPr>
              <a:t>✓ チャレンジで即日確認 → 記憶に定着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06543A"/>
                </a:solidFill>
              </a:rPr>
              <a:t>✓ ピック〜チャレンジが1アプリで完結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423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92400E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251960"/>
            <a:ext cx="11640312" cy="100584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3708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「 出会った英語をそのまま学習素材にする 」— 体験と学習の距離をゼロにする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44068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546811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92400E"/>
                </a:solidFill>
              </a:rPr>
              <a:t>📋 テキスト貼付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5623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B45A09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544068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546811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0">
                <a:solidFill>
                  <a:srgbClr val="92400E"/>
                </a:solidFill>
              </a:rPr>
              <a:t>🤖 AI フレーズ抽出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5623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B45A09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544068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546811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92400E"/>
                </a:solidFill>
              </a:rPr>
              <a:t>🎯 チャレンジ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5623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B45A09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60" y="544068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546811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0">
                <a:solidFill>
                  <a:srgbClr val="92400E"/>
                </a:solidFill>
              </a:rPr>
              <a:t>📈 定着・記録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顧客価値（Customer Value）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AA"/>
                </a:solidFill>
              </a:rPr>
              <a:t>誰に・何を・どうやって届けるか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3776472" cy="3840480"/>
          </a:xfrm>
          <a:prstGeom prst="rect">
            <a:avLst/>
          </a:prstGeom>
          <a:solidFill>
            <a:srgbClr val="EEF2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508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1308A"/>
                </a:solidFill>
              </a:rPr>
              <a:t>🧑‍💻 エンジニア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057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1308A"/>
                </a:solidFill>
              </a:rPr>
              <a:t>対象ユーザー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31343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海外チームとの連携・技術文書読解が必要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880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1308A"/>
                </a:solidFill>
              </a:rPr>
              <a:t>提供価値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136391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会議録・PR コメントから即ピック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1308A"/>
                </a:solidFill>
              </a:rPr>
              <a:t>KPI イメージ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95935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「あの表現また出た」を学習機会に変換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417320"/>
            <a:ext cx="3776472" cy="384048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508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4E4A"/>
                </a:solidFill>
              </a:rPr>
              <a:t>💼 ビジネスパーソン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057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34E4A"/>
                </a:solidFill>
              </a:rPr>
              <a:t>対象ユーザー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31343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会議・プレゼン・メール英語を高めたい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880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34E4A"/>
                </a:solidFill>
              </a:rPr>
              <a:t>提供価値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136391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議事録・字幕をそのままソースに追加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34E4A"/>
                </a:solidFill>
              </a:rPr>
              <a:t>KPI イメージ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95935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業務直結フレーズを翌日から使える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417320"/>
            <a:ext cx="3776472" cy="38404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1508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2D12"/>
                </a:solidFill>
              </a:rPr>
              <a:t>📚 英語学習者（趣味）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057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2D12"/>
                </a:solidFill>
              </a:rPr>
              <a:t>対象ユーザー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31343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洋画・読書・ポッドキャスト好き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2880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2D12"/>
                </a:solidFill>
              </a:rPr>
              <a:t>提供価値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3136391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字幕・記事からフレーズをピック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2D12"/>
                </a:solidFill>
              </a:rPr>
              <a:t>KPI イメージ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395935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好きなコンテンツが最強の教材になる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394960"/>
            <a:ext cx="11640312" cy="9144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4864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0">
                <a:solidFill>
                  <a:srgbClr val="FFFFFF"/>
                </a:solidFill>
              </a:rPr>
              <a:t>共通の価値：「自分ごと化」した素材 × AI 採点 × 連続日数（Pick Streak）で学習継続をサポート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システム全体像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AA"/>
                </a:solidFill>
              </a:rPr>
              <a:t>技術スタックとデータフロー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11640312" cy="804672"/>
          </a:xfrm>
          <a:prstGeom prst="rect">
            <a:avLst/>
          </a:prstGeom>
          <a:solidFill>
            <a:srgbClr val="EEF2FF"/>
          </a:solidFill>
          <a:ln w="952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27048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フロントエンド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572768"/>
            <a:ext cx="27432" cy="5486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572768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B5563"/>
                </a:solidFill>
              </a:rPr>
              <a:t>Next.js 14 App Router / TypeScript / Tailwind CSS / shadcn/ui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50008"/>
            <a:ext cx="11640312" cy="804672"/>
          </a:xfrm>
          <a:prstGeom prst="rect">
            <a:avLst/>
          </a:prstGeom>
          <a:solidFill>
            <a:srgbClr val="ECFDF5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14016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バックエンド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2459736"/>
            <a:ext cx="27432" cy="5486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2459736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B5563"/>
                </a:solidFill>
              </a:rPr>
              <a:t>Next.js Route Handler / Claude API（fetch直接）/ Supabase Auth + RLS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36976"/>
            <a:ext cx="11640312" cy="804672"/>
          </a:xfrm>
          <a:prstGeom prst="rect">
            <a:avLst/>
          </a:prstGeom>
          <a:solidFill>
            <a:srgbClr val="FFF7ED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300984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データストア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3346704"/>
            <a:ext cx="27432" cy="5486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3346704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B5563"/>
                </a:solidFill>
              </a:rPr>
              <a:t>Supabase PostgreSQL（RLS マルチユーザー）/ Storage（share-images）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23944"/>
            <a:ext cx="11640312" cy="804672"/>
          </a:xfrm>
          <a:prstGeom prst="rect">
            <a:avLst/>
          </a:prstGeom>
          <a:solidFill>
            <a:srgbClr val="F5F3FF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187952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インフラ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4233672"/>
            <a:ext cx="27432" cy="5486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233672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B5563"/>
                </a:solidFill>
              </a:rPr>
              <a:t>Railway（master push → 自動 CI/CD）/ Edge Runtime（OG 画像生成）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010912"/>
            <a:ext cx="11640312" cy="804672"/>
          </a:xfrm>
          <a:prstGeom prst="rect">
            <a:avLst/>
          </a:prstGeom>
          <a:solidFill>
            <a:srgbClr val="FDF2F8"/>
          </a:solidFill>
          <a:ln w="9525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074920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AI モデル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5120640"/>
            <a:ext cx="27432" cy="5486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512064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B5563"/>
                </a:solidFill>
              </a:rPr>
              <a:t>Sonnet 4.6（フレーズ抽出 8192tok）/ Haiku 4.5（採点 300tok・解説 600tok）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943600"/>
            <a:ext cx="11640312" cy="640080"/>
          </a:xfrm>
          <a:prstGeom prst="rect">
            <a:avLst/>
          </a:prstGeom>
          <a:solidFill>
            <a:srgbClr val="FFF1F2"/>
          </a:solidFill>
          <a:ln w="63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1B1B"/>
                </a:solidFill>
              </a:rPr>
              <a:t>🔒 セキュリティ：UUID バリデーション / 入力長制限 / allowlist / PostgREST インジェクション対策 / CSP / HSTS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主要機能一覧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AA"/>
                </a:solidFill>
              </a:rPr>
              <a:t>実装済みフィーチャー（2026-03 時点）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77647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9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5361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92400E"/>
                </a:solidFill>
              </a:rPr>
              <a:t>📋  ソース追加
（ピック）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93852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B5563"/>
                </a:solidFill>
              </a:rPr>
              <a:t>テキスト貼付 → Claude Sonnet が学習目的別にフレーズ自動抽出（JSON 部分回復付き）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463040"/>
            <a:ext cx="377647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9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5361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92400E"/>
                </a:solidFill>
              </a:rPr>
              <a:t>🎯  チャレンジ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3852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B5563"/>
                </a:solidFill>
              </a:rPr>
              <a:t>テキスト入力 → Claude Haiku でAI採点。正誤・惜しいの3段階判定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77647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9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5361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92400E"/>
                </a:solidFill>
              </a:rPr>
              <a:t>💡  AI Coach 解説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93852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B5563"/>
                </a:solidFill>
              </a:rPr>
              <a:t>不正解・惜しい時に自動表示。話す/聴く/使い分け/NGパターンの4セクション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80360"/>
            <a:ext cx="377647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9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29535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92400E"/>
                </a:solidFill>
              </a:rPr>
              <a:t>📊  Progress &amp; Streak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35584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B5563"/>
                </a:solidFill>
              </a:rPr>
              <a:t>14日チャート・難易度別精度・連続日数カレンダー（過去6ヶ月）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880360"/>
            <a:ext cx="377647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9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9535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92400E"/>
                </a:solidFill>
              </a:rPr>
              <a:t>🔄  ピックアップ チャレンジ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35584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B5563"/>
                </a:solidFill>
              </a:rPr>
              <a:t>直近5セッションで2回以上不正解のフレーズを優先出題（focus モード）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880360"/>
            <a:ext cx="377647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9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9535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92400E"/>
                </a:solidFill>
              </a:rPr>
              <a:t>𝕏  X シェア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35584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B5563"/>
                </a:solidFill>
              </a:rPr>
              <a:t>Canvas 1200×630 PNG 生成 → Supabase Storage → Twitter Cards 表示（Safari対応）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97680"/>
            <a:ext cx="377647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9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43708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92400E"/>
                </a:solidFill>
              </a:rPr>
              <a:t>📱  PWA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477316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B5563"/>
                </a:solidFill>
              </a:rPr>
              <a:t>iOS Safari / Android Chrome インストール対応。ホーム画面からオフライン起動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4297680"/>
            <a:ext cx="377647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9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43708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92400E"/>
                </a:solidFill>
              </a:rPr>
              <a:t>🌐  多言語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77316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B5563"/>
                </a:solidFill>
              </a:rPr>
              <a:t>JA/EN 切り替え（i18n.tsx）。学習内容は英語固定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4297680"/>
            <a:ext cx="377647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9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43708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92400E"/>
                </a:solidFill>
              </a:rPr>
              <a:t>🎓  オンボーディング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477316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B5563"/>
                </a:solidFill>
              </a:rPr>
              <a:t>目的・レベル・英語力チェック（多肢選択）→ シードフレーズ自動挿入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566928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B5563"/>
                </a:solidFill>
              </a:rPr>
              <a:t>※ 課金プラン (Pick Free/Starter/Pro) は設計済み・未実装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データフロー詳細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AA"/>
                </a:solidFill>
              </a:rPr>
              <a:t>ピック（フレーズ抽出）→ チャレンジ（AI採点）の流れ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44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2400E"/>
                </a:solidFill>
              </a:rPr>
              <a:t>📋 ピックフロー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277291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1907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2400E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23157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テキスト入力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21992"/>
            <a:ext cx="731520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128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4670" y="19659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45A09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0118" y="1691640"/>
            <a:ext cx="277291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5838" y="171907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2400E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1598" y="1737360"/>
            <a:ext cx="23157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Claude Sonnet 抽出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1598" y="2221992"/>
            <a:ext cx="73152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1598" y="22128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4748" y="19659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45A09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0196" y="1691640"/>
            <a:ext cx="277291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5916" y="171907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2400E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1676" y="1737360"/>
            <a:ext cx="23157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フレーズ保存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1676" y="2221992"/>
            <a:ext cx="731520" cy="256032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1676" y="22128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4826" y="19659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45A09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0274" y="1691640"/>
            <a:ext cx="277291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5994" y="171907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2400E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1754" y="1737360"/>
            <a:ext cx="23157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マイピックリスト表示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61754" y="2221992"/>
            <a:ext cx="731520" cy="256032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61754" y="22128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8986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</a:rPr>
              <a:t>🎯 チャレンジフロー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246120"/>
            <a:ext cx="277291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273551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2400E"/>
                </a:solidFill>
              </a:rP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291839"/>
            <a:ext cx="23157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フレーズ出題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776472"/>
            <a:ext cx="731520" cy="256032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7673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74670" y="3520439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45A09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30118" y="3246120"/>
            <a:ext cx="277291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75838" y="3273551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2400E"/>
                </a:solidFill>
              </a:rPr>
              <a:t>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41598" y="3291839"/>
            <a:ext cx="23157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テキスト回答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41598" y="3776472"/>
            <a:ext cx="731520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41598" y="37673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4748" y="3520439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45A09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40196" y="3246120"/>
            <a:ext cx="277291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85916" y="3273551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2400E"/>
                </a:solidFill>
              </a:rP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51676" y="3291839"/>
            <a:ext cx="23157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Claude Haiku 採点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1676" y="3776472"/>
            <a:ext cx="73152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51676" y="37673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94826" y="3520439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45A09"/>
                </a:solidFill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50274" y="3246120"/>
            <a:ext cx="277291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95994" y="3273551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2400E"/>
                </a:solidFill>
              </a:rPr>
              <a:t>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61754" y="3291839"/>
            <a:ext cx="23157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解説 + 記録保存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61754" y="3776472"/>
            <a:ext cx="731520" cy="256032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61754" y="37673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DB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526280"/>
            <a:ext cx="11640312" cy="2011680"/>
          </a:xfrm>
          <a:prstGeom prst="rect">
            <a:avLst/>
          </a:prstGeom>
          <a:solidFill>
            <a:srgbClr val="F8F5F0"/>
          </a:solidFill>
          <a:ln w="6350">
            <a:solidFill>
              <a:srgbClr val="E9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5994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2400E"/>
                </a:solidFill>
              </a:rPr>
              <a:t>📝 実装メモ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91032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B5563"/>
                </a:solidFill>
              </a:rPr>
              <a:t>・JSON 部分回復: max_tokens 超過でも 3 段階フォールバックで切断 JSON を復元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29437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B5563"/>
                </a:solidFill>
              </a:rPr>
              <a:t>・新規フレーズ優先: 直近7日以内 → 通常 → quickMastered（直近10セッションで3回以上 &lt;3.5sec 正解）の順で出題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678424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B5563"/>
                </a:solidFill>
              </a:rPr>
              <a:t>・response_time_ms 計測: 回答速度を quiz_answers テーブルに保存し quickMastered 判定に使用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06247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B5563"/>
                </a:solidFill>
              </a:rPr>
              <a:t>・論理削除: phrases.deleted_at。全クエリで .is('deleted_at', null) フィルタ必須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認証・DB・セキュリティ設計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AA"/>
                </a:solidFill>
              </a:rPr>
              <a:t>マルチユーザー対応の基盤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55778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9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2400E"/>
                </a:solidFill>
              </a:rPr>
              <a:t>🔐 認証フロー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/login → signUp()  →  確認メール送信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→ /auth/callback → exchangeCodeForSession()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→ middleware: onboarding_complete チェック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→ 未完了 → /onboarding（目的・レベル・英語力）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→ refreshSession() 必須（JWT 更新）→ router.push(/)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04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→ WelcomeGuide（初回）→ HintBubble → 通常利用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417320"/>
            <a:ext cx="587959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9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2400E"/>
                </a:solidFill>
              </a:rPr>
              <a:t>🗄️ DB スキーマ（主要テーブル）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19202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phrases: id / user_id / phrase / translation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26771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         explanation / deleted_at / added_date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261518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quiz_sessions: id / user_id / started_at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296265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quiz_answers: session_id / phrase_id /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3310127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              response_time_ms (採点速度記録)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3657599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RLS: 全テーブルで user_id = auth.uid() 強制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400507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Admin key + .eq('user_id') でバイパス管理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526280"/>
            <a:ext cx="11640312" cy="2057400"/>
          </a:xfrm>
          <a:prstGeom prst="rect">
            <a:avLst/>
          </a:prstGeom>
          <a:solidFill>
            <a:srgbClr val="FFF1F2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617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91B1B"/>
                </a:solidFill>
              </a:rPr>
              <a:t>🔒 セキュリティ実装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01091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F1D1D"/>
                </a:solidFill>
              </a:rPr>
              <a:t>  ・UUID v4 バリデーション（phrases/[id]・jobs/[id]）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30352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F1D1D"/>
                </a:solidFill>
              </a:rPr>
              <a:t>  ・入力長制限: phrase(200) / answer(500) / domain(100) / file(2MB, 200k chars)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961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F1D1D"/>
                </a:solidFill>
              </a:rPr>
              <a:t>  ・allowlist: source_type / delete_reason / study_purpose / study_level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8873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F1D1D"/>
                </a:solidFill>
              </a:rPr>
              <a:t>  ・PostgREST インジェクション対策: .or() 文字列から特殊文字をストリップ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81344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F1D1D"/>
                </a:solidFill>
              </a:rPr>
              <a:t>  ・SSRF 対策: import URL のプライベート IP 拒否（isAllowedHost）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F1D1D"/>
                </a:solidFill>
              </a:rPr>
              <a:t>  ・CSP: connect/img-src に Supabase・Google・GTM を明示。Storage 画像は *.supabase.co 必須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X シェア &amp;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AA"/>
                </a:solidFill>
              </a:rPr>
              <a:t>Safari 対策・Twitter Cards・インストール体験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64031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9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2400E"/>
                </a:solidFill>
              </a:rPr>
              <a:t>𝕏 シェアフロー（Safari 対策込み）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01952"/>
            <a:ext cx="2148840" cy="1143000"/>
          </a:xfrm>
          <a:prstGeom prst="rect">
            <a:avLst/>
          </a:prstGeom>
          <a:solidFill>
            <a:srgbClr val="FDF6EC"/>
          </a:solidFill>
          <a:ln w="6350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1965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① チャレンジ完了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28600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45A09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9191" y="1901952"/>
            <a:ext cx="2148840" cy="1143000"/>
          </a:xfrm>
          <a:prstGeom prst="rect">
            <a:avLst/>
          </a:prstGeom>
          <a:solidFill>
            <a:srgbClr val="FDF6EC"/>
          </a:solidFill>
          <a:ln w="6350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0632" y="1947672"/>
            <a:ext cx="1965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② 即・Canvas PNG 生成
&amp; Storage アップロード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1" y="228600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45A09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92624" y="1901952"/>
            <a:ext cx="2148840" cy="1143000"/>
          </a:xfrm>
          <a:prstGeom prst="rect">
            <a:avLst/>
          </a:prstGeom>
          <a:solidFill>
            <a:srgbClr val="FDF6EC"/>
          </a:solidFill>
          <a:ln w="6350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4064" y="1947672"/>
            <a:ext cx="1965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③ シェアボタン押下
window.open()（同期）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1464" y="228600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45A09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06056" y="1901952"/>
            <a:ext cx="2148840" cy="1143000"/>
          </a:xfrm>
          <a:prstGeom prst="rect">
            <a:avLst/>
          </a:prstGeom>
          <a:solidFill>
            <a:srgbClr val="FDF6EC"/>
          </a:solidFill>
          <a:ln w="6350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7496" y="1947672"/>
            <a:ext cx="1965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④ Twitter が /share/{id}
をクロール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54896" y="228600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45A09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19488" y="1901952"/>
            <a:ext cx="2148840" cy="1143000"/>
          </a:xfrm>
          <a:prstGeom prst="rect">
            <a:avLst/>
          </a:prstGeom>
          <a:solidFill>
            <a:srgbClr val="FDF6EC"/>
          </a:solidFill>
          <a:ln w="6350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0928" y="1947672"/>
            <a:ext cx="1965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⑤ og:image → Storage URL
Card 表示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83280"/>
            <a:ext cx="5577840" cy="1691640"/>
          </a:xfrm>
          <a:prstGeom prst="rect">
            <a:avLst/>
          </a:prstGeom>
          <a:solidFill>
            <a:srgbClr val="FFF1F2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91B1B"/>
                </a:solidFill>
              </a:rPr>
              <a:t>⚠️ Safari 特有の制約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8770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F1D1D"/>
                </a:solidFill>
              </a:rPr>
              <a:t>✕ await を挟むと window.open() がブロックされる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245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F1D1D"/>
                </a:solidFill>
              </a:rPr>
              <a:t>✕ window.open() 後はタブが suspend → バックグラウンド処理 kill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720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F1D1D"/>
                </a:solidFill>
              </a:rPr>
              <a:t>✕ 解決：チャレンジ完了時（FG）に先行アップロード完了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383280"/>
            <a:ext cx="5879592" cy="1691640"/>
          </a:xfrm>
          <a:prstGeom prst="rect">
            <a:avLst/>
          </a:prstGeom>
          <a:solidFill>
            <a:srgbClr val="ECFDF5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3474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543A"/>
                </a:solidFill>
              </a:rPr>
              <a:t>📱 PWA 対応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387705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6543A"/>
                </a:solidFill>
              </a:rPr>
              <a:t>✓ app/icon.png（静的ファイル）→ PWA + favicon 兼用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422452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6543A"/>
                </a:solidFill>
              </a:rPr>
              <a:t>✓ iOS Safari: 「共有 → ホーム画面に追加」バナー案内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45720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6543A"/>
                </a:solidFill>
              </a:rPr>
              <a:t>✓ Android Chrome: beforeinstallprompt でネイティブ誘導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2" y="491947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6543A"/>
                </a:solidFill>
              </a:rPr>
              <a:t>✓ manifest.ts: name = 'Pick' / short_name = 'Pick'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166360"/>
            <a:ext cx="11640312" cy="1005840"/>
          </a:xfrm>
          <a:prstGeom prst="rect">
            <a:avLst/>
          </a:prstGeom>
          <a:solidFill>
            <a:srgbClr val="FDF6EC"/>
          </a:solidFill>
          <a:ln w="6350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2578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</a:rPr>
              <a:t>🐦 Twitter Cards 要件: summary_large_image / 1200×630px 横長必須 / /share/{id} &amp; /api/og は PUBLIC_PATHS に含める（Twitter クローラーは未認証）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ブランド &amp; UX デザイン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AA"/>
                </a:solidFill>
              </a:rPr>
              <a:t>Pick Language Design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45720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9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2400E"/>
                </a:solidFill>
              </a:rPr>
              <a:t>🎨 ウォームベージュテーマ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411480" cy="292608"/>
          </a:xfrm>
          <a:prstGeom prst="rect">
            <a:avLst/>
          </a:prstGeom>
          <a:solidFill>
            <a:srgbClr val="FDF6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#FDF6EC  ベース背景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4114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#FFFFFF  カード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411480" cy="292608"/>
          </a:xfrm>
          <a:prstGeom prst="rect">
            <a:avLst/>
          </a:prstGeom>
          <a:solidFill>
            <a:srgbClr val="92400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5176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#92400E  ボタン 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411480" cy="292608"/>
          </a:xfrm>
          <a:prstGeom prst="rect">
            <a:avLst/>
          </a:prstGeom>
          <a:solidFill>
            <a:srgbClr val="05966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0175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#059669  ボタン CTA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37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B5563"/>
                </a:solidFill>
              </a:rPr>
              <a:t>dark: クラス全廃。ThemeProvider は no-op。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417320"/>
            <a:ext cx="6793992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9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2" y="1508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2400E"/>
                </a:solidFill>
              </a:rPr>
              <a:t>📖 ブランド用語（抜粋）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2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2400E"/>
                </a:solidFill>
              </a:rPr>
              <a:t>ピックする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19202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B5563"/>
                </a:solidFill>
              </a:rPr>
              <a:t>フレーズを選び取る行為（動詞）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22677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2400E"/>
                </a:solidFill>
              </a:rPr>
              <a:t>チャレンジ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26771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B5563"/>
                </a:solidFill>
              </a:rPr>
              <a:t>クイズ画面 /quiz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26151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2400E"/>
                </a:solidFill>
              </a:rPr>
              <a:t>マイピックリスト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615184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B5563"/>
                </a:solidFill>
              </a:rPr>
              <a:t>ピック済みフレーズ一覧 /phrases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2" y="29626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2400E"/>
                </a:solidFill>
              </a:rPr>
              <a:t>ピックアップ チャレンジ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962656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B5563"/>
                </a:solidFill>
              </a:rPr>
              <a:t>苦手フレーズ復習モード（focus）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2" y="331012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2400E"/>
                </a:solidFill>
              </a:rPr>
              <a:t>連続日数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3310127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B5563"/>
                </a:solidFill>
              </a:rPr>
              <a:t>学習継続日数 /streak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365759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2400E"/>
                </a:solidFill>
              </a:rPr>
              <a:t>Add a 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657599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B5563"/>
                </a:solidFill>
              </a:rPr>
              <a:t>テキスト追加 /library/import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840480"/>
            <a:ext cx="11640312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9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2400E"/>
                </a:solidFill>
              </a:rPr>
              <a:t>📱 モバイル UX ガイドライン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31596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● input の font-size は必ず 16px（iOS Safari 自動ズーム防止）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60857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● min-h-screen (100vh) を使用。min-h-[100dvh] はキーボード展開時にレイアウトシフト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901184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● sticky ヘッダー + 通常フロー。flex split layout は NG（iOS keyboard 展開で問題発生）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193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● step 変化時: question → scrollTo(top:0, instant) + setTimeout focus(80ms)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48640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</a:rPr>
              <a:t>● 戻るボタン: text-2xl p-2 -ml-2（約40px タップ領域確保）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現状と今後のロードマップ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E0AA"/>
                </a:solidFill>
              </a:rPr>
              <a:t>フェーズ・KPI・次のステップ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53949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9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2400E"/>
                </a:solidFill>
              </a:rPr>
              <a:t>📍 現状（2026-03）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</a:rPr>
              <a:t>・テストユーザーのみで運用中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677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</a:rPr>
              <a:t>・Railway 本番環境: englishstudyapps-production.up.railway.app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151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</a:rPr>
              <a:t>・AdSense 審査保留中（privacy/terms/about/contact 整備済み）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6265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</a:rPr>
              <a:t>・マイグレーション 001〜013 適用済み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10127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</a:rPr>
              <a:t>・課金プラン設計済み・未実装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59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</a:rPr>
              <a:t>・本番ユーザー獲得前フェーズ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417320"/>
            <a:ext cx="5879592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9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</a:rPr>
              <a:t>🚀 次のステップ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19202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59669"/>
                </a:solidFill>
              </a:rPr>
              <a:t>→ AdSense 審査通過 → 広告収益化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26771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59669"/>
                </a:solidFill>
              </a:rPr>
              <a:t>→ 課金プラン実装（Pick Starter/Pro）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261518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59669"/>
                </a:solidFill>
              </a:rPr>
              <a:t>→ X / SNS での認知拡大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296265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59669"/>
                </a:solidFill>
              </a:rPr>
              <a:t>→ オーディオ再生 TTS 対応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3310127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59669"/>
                </a:solidFill>
              </a:rPr>
              <a:t>→ フレーズ CSV エクスポート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3657599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59669"/>
                </a:solidFill>
              </a:rPr>
              <a:t>→ チーム共有機能（複数人でソース共有）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462272"/>
            <a:ext cx="11640312" cy="2084831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537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💎  Pick の差別化ポイント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① 「自分の体験テキスト」が素材 — 汎用教材アプリとの根本差別化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2180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② AI 採点 × 解説 × Streak — インプット・アウトプット・継続が1アプリで完結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1441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③ モバイルファースト PWA — iOS Safari まで完全対応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0702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④ 個人開発でありながら エンタープライズ水準のセキュリティ（RLS・CSP・SSRF対策）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